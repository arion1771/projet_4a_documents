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4ab03e8e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34ab03e8e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34ab03e8e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34ab03e8e_2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d34ab03e8e_2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34ab03e8e_2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4ab03e8e_2_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34ab03e8e_2_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34ab03e8e_2_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34ab03e8e_2_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34ab03e8e_2_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34ab03e8e_2_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34ab03e8e_2_1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d34ab03e8e_2_1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34ab03e8e_2_1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34ab03e8e_2_1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d34ab03e8e_2_1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34ab03e8e_2_1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34ab03e8e_2_20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d34ab03e8e_2_20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d34ab03e8e_2_20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34ab03e8e_2_2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d34ab03e8e_2_2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34ab03e8e_2_2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34ab03e8e_2_2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d34ab03e8e_2_2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34ab03e8e_2_2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15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5"/>
          <p:cNvSpPr/>
          <p:nvPr/>
        </p:nvSpPr>
        <p:spPr>
          <a:xfrm>
            <a:off x="0" y="0"/>
            <a:ext cx="9143771" cy="534924"/>
          </a:xfrm>
          <a:prstGeom prst="rect">
            <a:avLst/>
          </a:prstGeom>
          <a:solidFill>
            <a:srgbClr val="071019">
              <a:alpha val="78039"/>
            </a:srgbClr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0" y="0"/>
            <a:ext cx="3634800" cy="5143500"/>
          </a:xfrm>
          <a:prstGeom prst="rect">
            <a:avLst/>
          </a:prstGeom>
          <a:solidFill>
            <a:srgbClr val="071019">
              <a:alpha val="63921"/>
            </a:srgbClr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11480" y="651510"/>
            <a:ext cx="34977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Projet 03 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Réseau LoRa en spéléologie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25196" y="1817370"/>
            <a:ext cx="32918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C4B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FFBC4B"/>
                </a:solidFill>
                <a:latin typeface="Arial"/>
                <a:ea typeface="Arial"/>
                <a:cs typeface="Arial"/>
                <a:sym typeface="Arial"/>
              </a:rPr>
              <a:t>Chaîne de relais LoRa pour communication souterraine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11480" y="3600450"/>
            <a:ext cx="3051810" cy="788670"/>
          </a:xfrm>
          <a:prstGeom prst="roundRect">
            <a:avLst>
              <a:gd fmla="val 12174" name="adj"/>
            </a:avLst>
          </a:prstGeom>
          <a:solidFill>
            <a:srgbClr val="101A24">
              <a:alpha val="85882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62356" y="3751326"/>
            <a:ext cx="2708910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ZEFIZEF Sami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MULLER Matthieu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Porteur du projet : Letellier François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5" title="width_3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650" y="247988"/>
            <a:ext cx="3429000" cy="4647525"/>
          </a:xfrm>
          <a:prstGeom prst="rect">
            <a:avLst/>
          </a:prstGeom>
          <a:solidFill>
            <a:srgbClr val="060E14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" name="Google Shape;78;p16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tmp2.png"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0" y="0"/>
            <a:ext cx="9143771" cy="534924"/>
          </a:xfrm>
          <a:prstGeom prst="rect">
            <a:avLst/>
          </a:prstGeom>
          <a:solidFill>
            <a:srgbClr val="071019">
              <a:alpha val="78039"/>
            </a:srgbClr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Le problème souterrain — et notre réponse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88036" y="857250"/>
            <a:ext cx="2304288" cy="267462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04622" y="111099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21208" y="1104138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La roche coupe très vite téléphone et radio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04622" y="171450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21208" y="170764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En avançant, l’équipe se fragmente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04622" y="231800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21208" y="231114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Notre réponse : une chaîne LoRa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7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7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Architecture du réseau et déploiement progressif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288036" y="857250"/>
            <a:ext cx="2304288" cy="277749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04622" y="111099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21208" y="1104138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Smartphone local ↔ Bluetooth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04622" y="171450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21208" y="170764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Coordinateur puis relais intermédiaires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04622" y="231800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21208" y="231114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 nouveaux nœuds sont posés à mesure de la progression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914650" y="720090"/>
            <a:ext cx="5863590" cy="2160270"/>
          </a:xfrm>
          <a:prstGeom prst="roundRect">
            <a:avLst>
              <a:gd fmla="val 5714" name="adj"/>
            </a:avLst>
          </a:prstGeom>
          <a:solidFill>
            <a:srgbClr val="0E151D">
              <a:alpha val="96078"/>
            </a:srgbClr>
          </a:solidFill>
          <a:ln cap="flat" cmpd="sng" w="12700">
            <a:solidFill>
              <a:srgbClr val="24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4_architecture_fixed.png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5933" y="781812"/>
            <a:ext cx="3621024" cy="203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2914650" y="3031236"/>
            <a:ext cx="5863590" cy="1426464"/>
          </a:xfrm>
          <a:prstGeom prst="roundRect">
            <a:avLst>
              <a:gd fmla="val 8654" name="adj"/>
            </a:avLst>
          </a:prstGeom>
          <a:solidFill>
            <a:srgbClr val="0E151D">
              <a:alpha val="96078"/>
            </a:srgbClr>
          </a:solidFill>
          <a:ln cap="flat" cmpd="sng" w="12700">
            <a:solidFill>
              <a:srgbClr val="24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mp4.png" id="112" name="Google Shape;1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437" y="3072384"/>
            <a:ext cx="2414016" cy="1357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5933" y="781812"/>
            <a:ext cx="3621024" cy="203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18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18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Ce que le système apporte à l’utilisateur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88036" y="857250"/>
            <a:ext cx="2304288" cy="284607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04622" y="111099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21208" y="1104138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Relayer des messages jusqu’à l’extérieur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04622" y="171450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21208" y="170764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Propager une alerte prioritaire de bout en bout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04622" y="231800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21208" y="231114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Voir quels nœuds sont présents ou hors ligne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983229" y="1042416"/>
            <a:ext cx="5795009" cy="3257550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006340" y="1556766"/>
            <a:ext cx="3737610" cy="2297430"/>
          </a:xfrm>
          <a:prstGeom prst="roundRect">
            <a:avLst>
              <a:gd fmla="val 8000" name="adj"/>
            </a:avLst>
          </a:prstGeom>
          <a:solidFill>
            <a:srgbClr val="171B21"/>
          </a:solidFill>
          <a:ln cap="flat" cmpd="sng" w="17775">
            <a:solidFill>
              <a:srgbClr val="415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328666" y="1693926"/>
            <a:ext cx="1577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EBEFF4"/>
                </a:solidFill>
                <a:latin typeface="Arial"/>
                <a:ea typeface="Arial"/>
                <a:cs typeface="Arial"/>
                <a:sym typeface="Arial"/>
              </a:rPr>
              <a:t>Message relayé</a:t>
            </a:r>
            <a:endParaRPr sz="1100"/>
          </a:p>
        </p:txBody>
      </p:sp>
      <p:sp>
        <p:nvSpPr>
          <p:cNvPr id="136" name="Google Shape;136;p18"/>
          <p:cNvSpPr txBox="1"/>
          <p:nvPr/>
        </p:nvSpPr>
        <p:spPr>
          <a:xfrm>
            <a:off x="5328666" y="2448306"/>
            <a:ext cx="1783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EBEFF4"/>
                </a:solidFill>
                <a:latin typeface="Arial"/>
                <a:ea typeface="Arial"/>
                <a:cs typeface="Arial"/>
                <a:sym typeface="Arial"/>
              </a:rPr>
              <a:t>Alerte prioritaire</a:t>
            </a:r>
            <a:endParaRPr sz="1100"/>
          </a:p>
        </p:txBody>
      </p:sp>
      <p:sp>
        <p:nvSpPr>
          <p:cNvPr id="137" name="Google Shape;137;p18"/>
          <p:cNvSpPr txBox="1"/>
          <p:nvPr/>
        </p:nvSpPr>
        <p:spPr>
          <a:xfrm>
            <a:off x="5328666" y="3291840"/>
            <a:ext cx="1645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EBEFF4"/>
                </a:solidFill>
                <a:latin typeface="Arial"/>
                <a:ea typeface="Arial"/>
                <a:cs typeface="Arial"/>
                <a:sym typeface="Arial"/>
              </a:rPr>
              <a:t>Conscience réseau</a:t>
            </a:r>
            <a:endParaRPr sz="1100"/>
          </a:p>
        </p:txBody>
      </p:sp>
      <p:sp>
        <p:nvSpPr>
          <p:cNvPr id="138" name="Google Shape;138;p18"/>
          <p:cNvSpPr/>
          <p:nvPr/>
        </p:nvSpPr>
        <p:spPr>
          <a:xfrm>
            <a:off x="5212080" y="1988820"/>
            <a:ext cx="377190" cy="205740"/>
          </a:xfrm>
          <a:prstGeom prst="roundRect">
            <a:avLst>
              <a:gd fmla="val 16667" name="adj"/>
            </a:avLst>
          </a:prstGeom>
          <a:solidFill>
            <a:srgbClr val="21262D"/>
          </a:solidFill>
          <a:ln cap="flat" cmpd="sng" w="22850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273802" y="2071116"/>
            <a:ext cx="41148" cy="41148"/>
          </a:xfrm>
          <a:prstGeom prst="ellipse">
            <a:avLst/>
          </a:prstGeom>
          <a:solidFill>
            <a:srgbClr val="8FDFFF"/>
          </a:solidFill>
          <a:ln cap="flat" cmpd="sng" w="9525">
            <a:solidFill>
              <a:srgbClr val="8FD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342381" y="2071116"/>
            <a:ext cx="41148" cy="41148"/>
          </a:xfrm>
          <a:prstGeom prst="ellipse">
            <a:avLst/>
          </a:prstGeom>
          <a:solidFill>
            <a:srgbClr val="EBEFF4"/>
          </a:solidFill>
          <a:ln cap="flat" cmpd="sng" w="9525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424677" y="2064258"/>
            <a:ext cx="82296" cy="10287"/>
          </a:xfrm>
          <a:prstGeom prst="rect">
            <a:avLst/>
          </a:prstGeom>
          <a:solidFill>
            <a:srgbClr val="EBEF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424677" y="2105406"/>
            <a:ext cx="68580" cy="10287"/>
          </a:xfrm>
          <a:prstGeom prst="rect">
            <a:avLst/>
          </a:prstGeom>
          <a:solidFill>
            <a:srgbClr val="EBEF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 rot="-2700000">
            <a:off x="5513831" y="1954530"/>
            <a:ext cx="68580" cy="137160"/>
          </a:xfrm>
          <a:prstGeom prst="arc">
            <a:avLst>
              <a:gd fmla="val 4500000" name="adj1"/>
              <a:gd fmla="val 13500000" name="adj2"/>
            </a:avLst>
          </a:prstGeom>
          <a:noFill/>
          <a:ln cap="flat" cmpd="sng" w="16500">
            <a:solidFill>
              <a:srgbClr val="8FD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 rot="-2700000">
            <a:off x="5534405" y="1933956"/>
            <a:ext cx="109728" cy="137160"/>
          </a:xfrm>
          <a:prstGeom prst="arc">
            <a:avLst>
              <a:gd fmla="val 4500000" name="adj1"/>
              <a:gd fmla="val 13500000" name="adj2"/>
            </a:avLst>
          </a:prstGeom>
          <a:noFill/>
          <a:ln cap="flat" cmpd="sng" w="16500">
            <a:solidFill>
              <a:srgbClr val="8FD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8181594" y="1879092"/>
            <a:ext cx="260604" cy="425196"/>
          </a:xfrm>
          <a:prstGeom prst="roundRect">
            <a:avLst>
              <a:gd fmla="val 16667" name="adj"/>
            </a:avLst>
          </a:prstGeom>
          <a:solidFill>
            <a:srgbClr val="1B1F25"/>
          </a:solidFill>
          <a:ln cap="flat" cmpd="sng" w="20300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8209025" y="1920240"/>
            <a:ext cx="205740" cy="288036"/>
          </a:xfrm>
          <a:prstGeom prst="roundRect">
            <a:avLst>
              <a:gd fmla="val 16667" name="adj"/>
            </a:avLst>
          </a:prstGeom>
          <a:solidFill>
            <a:srgbClr val="272C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8301608" y="2239137"/>
            <a:ext cx="20574" cy="20574"/>
          </a:xfrm>
          <a:prstGeom prst="ellipse">
            <a:avLst/>
          </a:prstGeom>
          <a:solidFill>
            <a:srgbClr val="EBEFF4"/>
          </a:solidFill>
          <a:ln cap="flat" cmpd="sng" w="9525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8"/>
          <p:cNvCxnSpPr/>
          <p:nvPr/>
        </p:nvCxnSpPr>
        <p:spPr>
          <a:xfrm>
            <a:off x="5623559" y="2105406"/>
            <a:ext cx="2455165" cy="0"/>
          </a:xfrm>
          <a:prstGeom prst="straightConnector1">
            <a:avLst/>
          </a:prstGeom>
          <a:noFill/>
          <a:ln cap="flat" cmpd="sng" w="38100">
            <a:solidFill>
              <a:srgbClr val="F3AA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18"/>
          <p:cNvSpPr/>
          <p:nvPr/>
        </p:nvSpPr>
        <p:spPr>
          <a:xfrm>
            <a:off x="5897880" y="2071116"/>
            <a:ext cx="123444" cy="68580"/>
          </a:xfrm>
          <a:prstGeom prst="chevron">
            <a:avLst>
              <a:gd fmla="val 50000" name="adj"/>
            </a:avLst>
          </a:prstGeom>
          <a:solidFill>
            <a:srgbClr val="F3AA3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783830" y="2071116"/>
            <a:ext cx="123444" cy="68580"/>
          </a:xfrm>
          <a:prstGeom prst="chevron">
            <a:avLst>
              <a:gd fmla="val 50000" name="adj"/>
            </a:avLst>
          </a:prstGeom>
          <a:solidFill>
            <a:srgbClr val="F3AA3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987034" y="1988820"/>
            <a:ext cx="233172" cy="2331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0242A"/>
          </a:solidFill>
          <a:ln cap="flat" cmpd="sng" w="25400">
            <a:solidFill>
              <a:srgbClr val="F3AA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590538" y="2029968"/>
            <a:ext cx="150876" cy="150876"/>
          </a:xfrm>
          <a:prstGeom prst="ellipse">
            <a:avLst/>
          </a:prstGeom>
          <a:noFill/>
          <a:ln cap="flat" cmpd="sng" w="2540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622222" y="2061652"/>
            <a:ext cx="87508" cy="87508"/>
          </a:xfrm>
          <a:prstGeom prst="ellipse">
            <a:avLst/>
          </a:prstGeom>
          <a:noFill/>
          <a:ln cap="flat" cmpd="sng" w="17775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653905" y="2093335"/>
            <a:ext cx="24140" cy="24140"/>
          </a:xfrm>
          <a:prstGeom prst="ellipse">
            <a:avLst/>
          </a:prstGeom>
          <a:solidFill>
            <a:srgbClr val="2FD57F"/>
          </a:solidFill>
          <a:ln cap="flat" cmpd="sng" w="1015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139178" y="2029968"/>
            <a:ext cx="150876" cy="150876"/>
          </a:xfrm>
          <a:prstGeom prst="ellipse">
            <a:avLst/>
          </a:prstGeom>
          <a:noFill/>
          <a:ln cap="flat" cmpd="sng" w="2540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170862" y="2061652"/>
            <a:ext cx="87508" cy="87508"/>
          </a:xfrm>
          <a:prstGeom prst="ellipse">
            <a:avLst/>
          </a:prstGeom>
          <a:noFill/>
          <a:ln cap="flat" cmpd="sng" w="17775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202545" y="2093335"/>
            <a:ext cx="24140" cy="24140"/>
          </a:xfrm>
          <a:prstGeom prst="ellipse">
            <a:avLst/>
          </a:prstGeom>
          <a:solidFill>
            <a:srgbClr val="2FD57F"/>
          </a:solidFill>
          <a:ln cap="flat" cmpd="sng" w="1015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687818" y="2029968"/>
            <a:ext cx="150876" cy="150876"/>
          </a:xfrm>
          <a:prstGeom prst="ellipse">
            <a:avLst/>
          </a:prstGeom>
          <a:noFill/>
          <a:ln cap="flat" cmpd="sng" w="2540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719502" y="2061652"/>
            <a:ext cx="87508" cy="87508"/>
          </a:xfrm>
          <a:prstGeom prst="ellipse">
            <a:avLst/>
          </a:prstGeom>
          <a:noFill/>
          <a:ln cap="flat" cmpd="sng" w="17775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751185" y="2093335"/>
            <a:ext cx="24140" cy="24140"/>
          </a:xfrm>
          <a:prstGeom prst="ellipse">
            <a:avLst/>
          </a:prstGeom>
          <a:solidFill>
            <a:srgbClr val="2FD57F"/>
          </a:solidFill>
          <a:ln cap="flat" cmpd="sng" w="1015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335523" y="2221992"/>
            <a:ext cx="603504" cy="150876"/>
          </a:xfrm>
          <a:prstGeom prst="roundRect">
            <a:avLst>
              <a:gd fmla="val 16667" name="adj"/>
            </a:avLst>
          </a:prstGeom>
          <a:solidFill>
            <a:srgbClr val="1F232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404104" y="2228850"/>
            <a:ext cx="4800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700" u="none" cap="none" strike="noStrike">
                <a:solidFill>
                  <a:srgbClr val="EBEFF4"/>
                </a:solidFill>
                <a:latin typeface="Arial"/>
                <a:ea typeface="Arial"/>
                <a:cs typeface="Arial"/>
                <a:sym typeface="Arial"/>
              </a:rPr>
              <a:t>Texte / statut</a:t>
            </a:r>
            <a:endParaRPr sz="1100"/>
          </a:p>
        </p:txBody>
      </p:sp>
      <p:sp>
        <p:nvSpPr>
          <p:cNvPr id="163" name="Google Shape;163;p18"/>
          <p:cNvSpPr/>
          <p:nvPr/>
        </p:nvSpPr>
        <p:spPr>
          <a:xfrm>
            <a:off x="5212080" y="2811779"/>
            <a:ext cx="377190" cy="205740"/>
          </a:xfrm>
          <a:prstGeom prst="roundRect">
            <a:avLst>
              <a:gd fmla="val 16667" name="adj"/>
            </a:avLst>
          </a:prstGeom>
          <a:solidFill>
            <a:srgbClr val="21262D"/>
          </a:solidFill>
          <a:ln cap="flat" cmpd="sng" w="22850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273802" y="2894076"/>
            <a:ext cx="41148" cy="41148"/>
          </a:xfrm>
          <a:prstGeom prst="ellipse">
            <a:avLst/>
          </a:prstGeom>
          <a:solidFill>
            <a:srgbClr val="8FDFFF"/>
          </a:solidFill>
          <a:ln cap="flat" cmpd="sng" w="9525">
            <a:solidFill>
              <a:srgbClr val="8FD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342381" y="2894076"/>
            <a:ext cx="41148" cy="41148"/>
          </a:xfrm>
          <a:prstGeom prst="ellipse">
            <a:avLst/>
          </a:prstGeom>
          <a:solidFill>
            <a:srgbClr val="EBEFF4"/>
          </a:solidFill>
          <a:ln cap="flat" cmpd="sng" w="9525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424677" y="2887218"/>
            <a:ext cx="82296" cy="10287"/>
          </a:xfrm>
          <a:prstGeom prst="rect">
            <a:avLst/>
          </a:prstGeom>
          <a:solidFill>
            <a:srgbClr val="EBEF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424677" y="2928365"/>
            <a:ext cx="68580" cy="10287"/>
          </a:xfrm>
          <a:prstGeom prst="rect">
            <a:avLst/>
          </a:prstGeom>
          <a:solidFill>
            <a:srgbClr val="EBEF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 rot="-2700000">
            <a:off x="5513831" y="2777490"/>
            <a:ext cx="68580" cy="137160"/>
          </a:xfrm>
          <a:prstGeom prst="arc">
            <a:avLst>
              <a:gd fmla="val 4500000" name="adj1"/>
              <a:gd fmla="val 13500000" name="adj2"/>
            </a:avLst>
          </a:prstGeom>
          <a:noFill/>
          <a:ln cap="flat" cmpd="sng" w="16500">
            <a:solidFill>
              <a:srgbClr val="8FD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/>
          <p:nvPr/>
        </p:nvSpPr>
        <p:spPr>
          <a:xfrm rot="-2700000">
            <a:off x="5534405" y="2756915"/>
            <a:ext cx="109728" cy="137160"/>
          </a:xfrm>
          <a:prstGeom prst="arc">
            <a:avLst>
              <a:gd fmla="val 4500000" name="adj1"/>
              <a:gd fmla="val 13500000" name="adj2"/>
            </a:avLst>
          </a:prstGeom>
          <a:noFill/>
          <a:ln cap="flat" cmpd="sng" w="16500">
            <a:solidFill>
              <a:srgbClr val="8FD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181594" y="2702051"/>
            <a:ext cx="260604" cy="425196"/>
          </a:xfrm>
          <a:prstGeom prst="roundRect">
            <a:avLst>
              <a:gd fmla="val 16667" name="adj"/>
            </a:avLst>
          </a:prstGeom>
          <a:solidFill>
            <a:srgbClr val="1B1F25"/>
          </a:solidFill>
          <a:ln cap="flat" cmpd="sng" w="20300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209025" y="2743199"/>
            <a:ext cx="205740" cy="288036"/>
          </a:xfrm>
          <a:prstGeom prst="roundRect">
            <a:avLst>
              <a:gd fmla="val 16667" name="adj"/>
            </a:avLst>
          </a:prstGeom>
          <a:solidFill>
            <a:srgbClr val="272C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301608" y="3062097"/>
            <a:ext cx="20574" cy="20574"/>
          </a:xfrm>
          <a:prstGeom prst="ellipse">
            <a:avLst/>
          </a:prstGeom>
          <a:solidFill>
            <a:srgbClr val="EBEFF4"/>
          </a:solidFill>
          <a:ln cap="flat" cmpd="sng" w="9525">
            <a:solidFill>
              <a:srgbClr val="EBEF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8"/>
          <p:cNvCxnSpPr/>
          <p:nvPr/>
        </p:nvCxnSpPr>
        <p:spPr>
          <a:xfrm>
            <a:off x="5623559" y="2928365"/>
            <a:ext cx="2455165" cy="0"/>
          </a:xfrm>
          <a:prstGeom prst="straightConnector1">
            <a:avLst/>
          </a:prstGeom>
          <a:noFill/>
          <a:ln cap="flat" cmpd="sng" w="40625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18"/>
          <p:cNvSpPr/>
          <p:nvPr/>
        </p:nvSpPr>
        <p:spPr>
          <a:xfrm>
            <a:off x="5987034" y="2811779"/>
            <a:ext cx="233172" cy="23317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0242A"/>
          </a:solidFill>
          <a:ln cap="flat" cmpd="sng" w="25400">
            <a:solidFill>
              <a:srgbClr val="F3AA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590538" y="2852927"/>
            <a:ext cx="150876" cy="150876"/>
          </a:xfrm>
          <a:prstGeom prst="ellipse">
            <a:avLst/>
          </a:prstGeom>
          <a:noFill/>
          <a:ln cap="flat" cmpd="sng" w="25400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622222" y="2884612"/>
            <a:ext cx="87508" cy="87508"/>
          </a:xfrm>
          <a:prstGeom prst="ellipse">
            <a:avLst/>
          </a:prstGeom>
          <a:noFill/>
          <a:ln cap="flat" cmpd="sng" w="17775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653905" y="2916296"/>
            <a:ext cx="24140" cy="24140"/>
          </a:xfrm>
          <a:prstGeom prst="ellipse">
            <a:avLst/>
          </a:prstGeom>
          <a:solidFill>
            <a:srgbClr val="EB5656"/>
          </a:solidFill>
          <a:ln cap="flat" cmpd="sng" w="10150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139178" y="2852927"/>
            <a:ext cx="150876" cy="150876"/>
          </a:xfrm>
          <a:prstGeom prst="ellipse">
            <a:avLst/>
          </a:prstGeom>
          <a:noFill/>
          <a:ln cap="flat" cmpd="sng" w="25400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170862" y="2884612"/>
            <a:ext cx="87508" cy="87508"/>
          </a:xfrm>
          <a:prstGeom prst="ellipse">
            <a:avLst/>
          </a:prstGeom>
          <a:noFill/>
          <a:ln cap="flat" cmpd="sng" w="17775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202545" y="2916296"/>
            <a:ext cx="24140" cy="24140"/>
          </a:xfrm>
          <a:prstGeom prst="ellipse">
            <a:avLst/>
          </a:prstGeom>
          <a:solidFill>
            <a:srgbClr val="EB5656"/>
          </a:solidFill>
          <a:ln cap="flat" cmpd="sng" w="10150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687818" y="2852927"/>
            <a:ext cx="150876" cy="150876"/>
          </a:xfrm>
          <a:prstGeom prst="ellipse">
            <a:avLst/>
          </a:prstGeom>
          <a:noFill/>
          <a:ln cap="flat" cmpd="sng" w="25400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719502" y="2884612"/>
            <a:ext cx="87508" cy="87508"/>
          </a:xfrm>
          <a:prstGeom prst="ellipse">
            <a:avLst/>
          </a:prstGeom>
          <a:noFill/>
          <a:ln cap="flat" cmpd="sng" w="17775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751185" y="2916296"/>
            <a:ext cx="24140" cy="24140"/>
          </a:xfrm>
          <a:prstGeom prst="ellipse">
            <a:avLst/>
          </a:prstGeom>
          <a:solidFill>
            <a:srgbClr val="EB5656"/>
          </a:solidFill>
          <a:ln cap="flat" cmpd="sng" w="10150">
            <a:solidFill>
              <a:srgbClr val="EB56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500116" y="2804922"/>
            <a:ext cx="82296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EB5656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endParaRPr sz="1100"/>
          </a:p>
        </p:txBody>
      </p:sp>
      <p:sp>
        <p:nvSpPr>
          <p:cNvPr id="185" name="Google Shape;185;p18"/>
          <p:cNvSpPr/>
          <p:nvPr/>
        </p:nvSpPr>
        <p:spPr>
          <a:xfrm>
            <a:off x="6117336" y="3456432"/>
            <a:ext cx="137160" cy="137160"/>
          </a:xfrm>
          <a:prstGeom prst="ellipse">
            <a:avLst/>
          </a:prstGeom>
          <a:noFill/>
          <a:ln cap="flat" cmpd="sng" w="2540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146139" y="3485235"/>
            <a:ext cx="79553" cy="79553"/>
          </a:xfrm>
          <a:prstGeom prst="ellipse">
            <a:avLst/>
          </a:prstGeom>
          <a:noFill/>
          <a:ln cap="flat" cmpd="sng" w="17775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174943" y="3514039"/>
            <a:ext cx="21945" cy="21945"/>
          </a:xfrm>
          <a:prstGeom prst="ellipse">
            <a:avLst/>
          </a:prstGeom>
          <a:solidFill>
            <a:srgbClr val="2FD57F"/>
          </a:solidFill>
          <a:ln cap="flat" cmpd="sng" w="1015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515100" y="3456432"/>
            <a:ext cx="137160" cy="137160"/>
          </a:xfrm>
          <a:prstGeom prst="ellipse">
            <a:avLst/>
          </a:prstGeom>
          <a:noFill/>
          <a:ln cap="flat" cmpd="sng" w="2540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543903" y="3485235"/>
            <a:ext cx="79552" cy="79553"/>
          </a:xfrm>
          <a:prstGeom prst="ellipse">
            <a:avLst/>
          </a:prstGeom>
          <a:noFill/>
          <a:ln cap="flat" cmpd="sng" w="17775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572707" y="3514039"/>
            <a:ext cx="21945" cy="21945"/>
          </a:xfrm>
          <a:prstGeom prst="ellipse">
            <a:avLst/>
          </a:prstGeom>
          <a:solidFill>
            <a:srgbClr val="2FD57F"/>
          </a:solidFill>
          <a:ln cap="flat" cmpd="sng" w="1015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912864" y="3456432"/>
            <a:ext cx="137160" cy="137160"/>
          </a:xfrm>
          <a:prstGeom prst="ellipse">
            <a:avLst/>
          </a:prstGeom>
          <a:noFill/>
          <a:ln cap="flat" cmpd="sng" w="25400">
            <a:solidFill>
              <a:srgbClr val="6F788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941667" y="3485235"/>
            <a:ext cx="79552" cy="79553"/>
          </a:xfrm>
          <a:prstGeom prst="ellipse">
            <a:avLst/>
          </a:prstGeom>
          <a:noFill/>
          <a:ln cap="flat" cmpd="sng" w="17775">
            <a:solidFill>
              <a:srgbClr val="6F788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970471" y="3514039"/>
            <a:ext cx="21945" cy="21945"/>
          </a:xfrm>
          <a:prstGeom prst="ellipse">
            <a:avLst/>
          </a:prstGeom>
          <a:solidFill>
            <a:srgbClr val="6F7884"/>
          </a:solidFill>
          <a:ln cap="flat" cmpd="sng" w="10150">
            <a:solidFill>
              <a:srgbClr val="6F788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7310628" y="3456432"/>
            <a:ext cx="137160" cy="137160"/>
          </a:xfrm>
          <a:prstGeom prst="ellipse">
            <a:avLst/>
          </a:prstGeom>
          <a:noFill/>
          <a:ln cap="flat" cmpd="sng" w="2540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339431" y="3485235"/>
            <a:ext cx="79552" cy="79553"/>
          </a:xfrm>
          <a:prstGeom prst="ellipse">
            <a:avLst/>
          </a:prstGeom>
          <a:noFill/>
          <a:ln cap="flat" cmpd="sng" w="17775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368235" y="3514039"/>
            <a:ext cx="21945" cy="21945"/>
          </a:xfrm>
          <a:prstGeom prst="ellipse">
            <a:avLst/>
          </a:prstGeom>
          <a:solidFill>
            <a:srgbClr val="2FD57F"/>
          </a:solidFill>
          <a:ln cap="flat" cmpd="sng" w="10150">
            <a:solidFill>
              <a:srgbClr val="2FD5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7646669" y="3442716"/>
            <a:ext cx="720090" cy="192024"/>
          </a:xfrm>
          <a:prstGeom prst="roundRect">
            <a:avLst>
              <a:gd fmla="val 15000" name="adj"/>
            </a:avLst>
          </a:prstGeom>
          <a:solidFill>
            <a:srgbClr val="24282E"/>
          </a:solidFill>
          <a:ln cap="flat" cmpd="sng" w="15225">
            <a:solidFill>
              <a:srgbClr val="6F788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701534" y="3449574"/>
            <a:ext cx="63093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EBEFF4"/>
                </a:solidFill>
                <a:latin typeface="Arial"/>
                <a:ea typeface="Arial"/>
                <a:cs typeface="Arial"/>
                <a:sym typeface="Arial"/>
              </a:rPr>
              <a:t>Nœud 3 hors ligne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19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9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Comportements visibles et sécurité terrain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88036" y="857250"/>
            <a:ext cx="2304288" cy="291465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404622" y="111099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21208" y="1104138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Lien </a:t>
            </a: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faible</a:t>
            </a: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 : LED </a:t>
            </a: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plus rapide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404622" y="171450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21208" y="170764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Aucune trame coordinateur pendant 10 s : LED OFF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404622" y="231800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21208" y="231114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Nœud silencieux &gt; 10 s : déconnecté, puis reconnecté si trafic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mp6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0" y="776668"/>
            <a:ext cx="5760720" cy="324040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/>
          <p:nvPr/>
        </p:nvSpPr>
        <p:spPr>
          <a:xfrm>
            <a:off x="4526280" y="4114800"/>
            <a:ext cx="3051810" cy="493776"/>
          </a:xfrm>
          <a:prstGeom prst="roundRect">
            <a:avLst>
              <a:gd fmla="val 19444" name="adj"/>
            </a:avLst>
          </a:prstGeom>
          <a:solidFill>
            <a:srgbClr val="0E151D">
              <a:alpha val="96862"/>
            </a:srgbClr>
          </a:solidFill>
          <a:ln cap="flat" cmpd="sng" w="12700">
            <a:solidFill>
              <a:srgbClr val="24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19"/>
          <p:cNvCxnSpPr/>
          <p:nvPr/>
        </p:nvCxnSpPr>
        <p:spPr>
          <a:xfrm>
            <a:off x="5074920" y="4437126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4C56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9"/>
          <p:cNvCxnSpPr/>
          <p:nvPr/>
        </p:nvCxnSpPr>
        <p:spPr>
          <a:xfrm>
            <a:off x="5760720" y="4437126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4C56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9"/>
          <p:cNvCxnSpPr/>
          <p:nvPr/>
        </p:nvCxnSpPr>
        <p:spPr>
          <a:xfrm>
            <a:off x="6446520" y="4437126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4C56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9"/>
          <p:cNvSpPr/>
          <p:nvPr/>
        </p:nvSpPr>
        <p:spPr>
          <a:xfrm>
            <a:off x="4889754" y="4238244"/>
            <a:ext cx="377190" cy="377190"/>
          </a:xfrm>
          <a:prstGeom prst="ellipse">
            <a:avLst/>
          </a:prstGeom>
          <a:solidFill>
            <a:srgbClr val="131B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4992624" y="4341114"/>
            <a:ext cx="171450" cy="171450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657850" y="4293108"/>
            <a:ext cx="205740" cy="205740"/>
          </a:xfrm>
          <a:prstGeom prst="ellipse">
            <a:avLst/>
          </a:prstGeom>
          <a:solidFill>
            <a:srgbClr val="132029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5712714" y="4347972"/>
            <a:ext cx="96012" cy="96012"/>
          </a:xfrm>
          <a:prstGeom prst="ellipse">
            <a:avLst/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6343650" y="4293108"/>
            <a:ext cx="205740" cy="205740"/>
          </a:xfrm>
          <a:prstGeom prst="ellipse">
            <a:avLst/>
          </a:prstGeom>
          <a:solidFill>
            <a:srgbClr val="132029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6398514" y="4347972"/>
            <a:ext cx="96012" cy="96012"/>
          </a:xfrm>
          <a:prstGeom prst="ellipse">
            <a:avLst/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7029450" y="4293108"/>
            <a:ext cx="205740" cy="205740"/>
          </a:xfrm>
          <a:prstGeom prst="ellipse">
            <a:avLst/>
          </a:prstGeom>
          <a:solidFill>
            <a:srgbClr val="132029"/>
          </a:solidFill>
          <a:ln cap="flat" cmpd="sng" w="12700">
            <a:solidFill>
              <a:srgbClr val="7D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7084314" y="4347972"/>
            <a:ext cx="96012" cy="96012"/>
          </a:xfrm>
          <a:prstGeom prst="ellipse">
            <a:avLst/>
          </a:prstGeom>
          <a:solidFill>
            <a:srgbClr val="7D8793"/>
          </a:solidFill>
          <a:ln cap="flat" cmpd="sng" w="12700">
            <a:solidFill>
              <a:srgbClr val="7D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7166610" y="4169664"/>
            <a:ext cx="4457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D8793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7D8793"/>
                </a:solidFill>
                <a:latin typeface="Arial"/>
                <a:ea typeface="Arial"/>
                <a:cs typeface="Arial"/>
                <a:sym typeface="Arial"/>
              </a:rPr>
              <a:t>déconnecté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814316" y="4443984"/>
            <a:ext cx="1508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9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C8D0D9"/>
                </a:solidFill>
                <a:latin typeface="Arial"/>
                <a:ea typeface="Arial"/>
                <a:cs typeface="Arial"/>
                <a:sym typeface="Arial"/>
              </a:rPr>
              <a:t>reconnecté si trafic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9"/>
          <p:cNvCxnSpPr/>
          <p:nvPr/>
        </p:nvCxnSpPr>
        <p:spPr>
          <a:xfrm>
            <a:off x="6549390" y="4437126"/>
            <a:ext cx="377190" cy="0"/>
          </a:xfrm>
          <a:prstGeom prst="straightConnector1">
            <a:avLst/>
          </a:prstGeom>
          <a:noFill/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9"/>
          <p:cNvSpPr/>
          <p:nvPr/>
        </p:nvSpPr>
        <p:spPr>
          <a:xfrm>
            <a:off x="6892290" y="4382262"/>
            <a:ext cx="96012" cy="109728"/>
          </a:xfrm>
          <a:prstGeom prst="chevron">
            <a:avLst>
              <a:gd fmla="val 50000" name="adj"/>
            </a:avLst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20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0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Technologies réellement mises en œuvre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88036" y="857250"/>
            <a:ext cx="2304288" cy="336042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04622" y="111099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21208" y="1104138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Coordinateur : LoRa-E5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04622" y="171450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21208" y="170764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Relais : WyresV2 </a:t>
            </a: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sur STM32L151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04622" y="231800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21208" y="231114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AppLoraProjet : Android Kotlin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04622" y="2921508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21208" y="2914650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Lien local : Bluetooth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mp7.png" id="256" name="Google Shape;2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1810" y="1049060"/>
            <a:ext cx="5657850" cy="3182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" name="Google Shape;266;p21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21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Pourquoi avoir choisi LoRa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88036" y="809244"/>
            <a:ext cx="2304288" cy="346329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404622" y="106299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21208" y="105613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Longue liaison utile à faible débit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04622" y="166649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21208" y="165963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Faible consommation pour des relais autonomes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04622" y="2269998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521208" y="2263140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Bien adapté aux messages courts</a:t>
            </a:r>
            <a:b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jusqu’à 64 octets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04622" y="2873502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21208" y="2866644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Pas de voix, pas de haut débit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3120390" y="720090"/>
            <a:ext cx="5623560" cy="3840480"/>
          </a:xfrm>
          <a:prstGeom prst="roundRect">
            <a:avLst>
              <a:gd fmla="val 3214" name="adj"/>
            </a:avLst>
          </a:prstGeom>
          <a:solidFill>
            <a:srgbClr val="0E151D">
              <a:alpha val="94901"/>
            </a:srgbClr>
          </a:solidFill>
          <a:ln cap="flat" cmpd="sng" w="12700">
            <a:solidFill>
              <a:srgbClr val="24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3360420" y="884682"/>
            <a:ext cx="19202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Pourquoi LoRa ici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3291840" y="1440180"/>
            <a:ext cx="5143500" cy="150876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3B4550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3429000" y="1988820"/>
            <a:ext cx="4869180" cy="1028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2B364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21"/>
          <p:cNvCxnSpPr/>
          <p:nvPr/>
        </p:nvCxnSpPr>
        <p:spPr>
          <a:xfrm>
            <a:off x="3806190" y="2537460"/>
            <a:ext cx="92583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21"/>
          <p:cNvCxnSpPr/>
          <p:nvPr/>
        </p:nvCxnSpPr>
        <p:spPr>
          <a:xfrm>
            <a:off x="4732020" y="2537460"/>
            <a:ext cx="96012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5692140" y="2537460"/>
            <a:ext cx="96012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6652260" y="2537460"/>
            <a:ext cx="89154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21"/>
          <p:cNvSpPr/>
          <p:nvPr/>
        </p:nvSpPr>
        <p:spPr>
          <a:xfrm>
            <a:off x="3573018" y="2304288"/>
            <a:ext cx="466344" cy="466344"/>
          </a:xfrm>
          <a:prstGeom prst="ellipse">
            <a:avLst/>
          </a:prstGeom>
          <a:solidFill>
            <a:srgbClr val="151B22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3723894" y="2455164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4581144" y="2386584"/>
            <a:ext cx="301752" cy="301752"/>
          </a:xfrm>
          <a:prstGeom prst="ellipse">
            <a:avLst/>
          </a:prstGeom>
          <a:solidFill>
            <a:srgbClr val="112028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4677156" y="2482596"/>
            <a:ext cx="109728" cy="109728"/>
          </a:xfrm>
          <a:prstGeom prst="ellipse">
            <a:avLst/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5541264" y="2386584"/>
            <a:ext cx="301752" cy="301752"/>
          </a:xfrm>
          <a:prstGeom prst="ellipse">
            <a:avLst/>
          </a:prstGeom>
          <a:solidFill>
            <a:srgbClr val="112028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637276" y="2482596"/>
            <a:ext cx="109728" cy="109728"/>
          </a:xfrm>
          <a:prstGeom prst="ellipse">
            <a:avLst/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6501384" y="2386584"/>
            <a:ext cx="301752" cy="301752"/>
          </a:xfrm>
          <a:prstGeom prst="ellipse">
            <a:avLst/>
          </a:prstGeom>
          <a:solidFill>
            <a:srgbClr val="112028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6597396" y="2482596"/>
            <a:ext cx="109728" cy="109728"/>
          </a:xfrm>
          <a:prstGeom prst="ellipse">
            <a:avLst/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7392924" y="2386584"/>
            <a:ext cx="301752" cy="301752"/>
          </a:xfrm>
          <a:prstGeom prst="ellipse">
            <a:avLst/>
          </a:prstGeom>
          <a:solidFill>
            <a:srgbClr val="112028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7488936" y="2482596"/>
            <a:ext cx="109728" cy="109728"/>
          </a:xfrm>
          <a:prstGeom prst="ellipse">
            <a:avLst/>
          </a:prstGeom>
          <a:solidFill>
            <a:srgbClr val="33D17A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3600450" y="1371600"/>
            <a:ext cx="1268730" cy="260604"/>
          </a:xfrm>
          <a:prstGeom prst="roundRect">
            <a:avLst>
              <a:gd fmla="val 36842" name="adj"/>
            </a:avLst>
          </a:prstGeom>
          <a:solidFill>
            <a:srgbClr val="111A24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3600450" y="1405890"/>
            <a:ext cx="12687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Portée utile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177790" y="1371600"/>
            <a:ext cx="1268730" cy="260604"/>
          </a:xfrm>
          <a:prstGeom prst="roundRect">
            <a:avLst>
              <a:gd fmla="val 36842" name="adj"/>
            </a:avLst>
          </a:prstGeom>
          <a:solidFill>
            <a:srgbClr val="111A24"/>
          </a:solidFill>
          <a:ln cap="flat" cmpd="sng" w="12700">
            <a:solidFill>
              <a:srgbClr val="8A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5177790" y="1405890"/>
            <a:ext cx="12687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Faible débit accepté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995160" y="1371600"/>
            <a:ext cx="1268730" cy="260604"/>
          </a:xfrm>
          <a:prstGeom prst="roundRect">
            <a:avLst>
              <a:gd fmla="val 36842" name="adj"/>
            </a:avLst>
          </a:prstGeom>
          <a:solidFill>
            <a:srgbClr val="111A24"/>
          </a:solidFill>
          <a:ln cap="flat" cmpd="sng" w="12700">
            <a:solidFill>
              <a:srgbClr val="33D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6995160" y="1405890"/>
            <a:ext cx="12687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Faible conso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806190" y="3065526"/>
            <a:ext cx="4251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64 octets max · supervision · relais autonomes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497580" y="3600450"/>
            <a:ext cx="49034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0D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C8D0D9"/>
                </a:solidFill>
                <a:latin typeface="Arial"/>
                <a:ea typeface="Arial"/>
                <a:cs typeface="Arial"/>
                <a:sym typeface="Arial"/>
              </a:rPr>
              <a:t>Pas de voix, pas de haut débit mais une liaison robuste pour l’état du réseau et les messages essentiels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-1097280" y="3086100"/>
            <a:ext cx="2537460" cy="2537460"/>
          </a:xfrm>
          <a:prstGeom prst="ellipse">
            <a:avLst/>
          </a:prstGeom>
          <a:solidFill>
            <a:srgbClr val="F5A623">
              <a:alpha val="5098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22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22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Mécanismes techniques clés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288036" y="822960"/>
            <a:ext cx="2304300" cy="339480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404622" y="107670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521271" y="2310498"/>
            <a:ext cx="1988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ACK timeout 700 ms, 3 retries max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404622" y="168021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521208" y="167335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Adhésion automatique : JOIN_REQ / JOIN_ACK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404622" y="228371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528071" y="1110319"/>
            <a:ext cx="1988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Supervision : heartbeat 500 ms + trafic valide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04622" y="2887218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21283" y="2947485"/>
            <a:ext cx="1988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RSSI / SNR sur WyresV2, seuil hors ligne à 10 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mp8.png"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236" y="1043488"/>
            <a:ext cx="5726430" cy="3221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019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019"/>
          </a:solidFill>
          <a:ln cap="flat" cmpd="sng" w="12700">
            <a:solidFill>
              <a:srgbClr val="0710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-1097280" y="3086100"/>
            <a:ext cx="2537400" cy="2537400"/>
          </a:xfrm>
          <a:prstGeom prst="ellipse">
            <a:avLst/>
          </a:prstGeom>
          <a:solidFill>
            <a:srgbClr val="F5A623">
              <a:alpha val="5100"/>
            </a:srgbClr>
          </a:solidFill>
          <a:ln cap="flat" cmpd="sng" w="12700">
            <a:solidFill>
              <a:srgbClr val="F5A62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7475220" y="2606040"/>
            <a:ext cx="1988820" cy="1988820"/>
          </a:xfrm>
          <a:prstGeom prst="ellipse">
            <a:avLst/>
          </a:prstGeom>
          <a:solidFill>
            <a:srgbClr val="8AD8FF">
              <a:alpha val="3921"/>
            </a:srgbClr>
          </a:solidFill>
          <a:ln cap="flat" cmpd="sng" w="12700">
            <a:solidFill>
              <a:srgbClr val="8AD8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4114800" y="-822960"/>
            <a:ext cx="1783080" cy="1783080"/>
          </a:xfrm>
          <a:prstGeom prst="ellipse">
            <a:avLst/>
          </a:prstGeom>
          <a:solidFill>
            <a:srgbClr val="33D17A">
              <a:alpha val="3137"/>
            </a:srgbClr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" name="Google Shape;335;p23"/>
          <p:cNvCxnSpPr/>
          <p:nvPr/>
        </p:nvCxnSpPr>
        <p:spPr>
          <a:xfrm>
            <a:off x="171450" y="493776"/>
            <a:ext cx="8743950" cy="0"/>
          </a:xfrm>
          <a:prstGeom prst="straightConnector1">
            <a:avLst/>
          </a:prstGeom>
          <a:noFill/>
          <a:ln cap="flat" cmpd="sng" w="12700">
            <a:solidFill>
              <a:srgbClr val="1A26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23"/>
          <p:cNvSpPr/>
          <p:nvPr/>
        </p:nvSpPr>
        <p:spPr>
          <a:xfrm>
            <a:off x="288036" y="123444"/>
            <a:ext cx="6035040" cy="377190"/>
          </a:xfrm>
          <a:prstGeom prst="rect">
            <a:avLst/>
          </a:prstGeom>
          <a:noFill/>
          <a:ln>
            <a:noFill/>
          </a:ln>
          <a:effectLst>
            <a:outerShdw blurRad="12700" rotWithShape="0" algn="bl" dir="2700000" dist="127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Play"/>
              <a:buNone/>
            </a:pPr>
            <a:r>
              <a:rPr b="1" i="0" lang="fr" sz="1600" u="none" cap="none" strike="noStrike">
                <a:solidFill>
                  <a:srgbClr val="F2F4F7"/>
                </a:solidFill>
                <a:latin typeface="Play"/>
                <a:ea typeface="Play"/>
                <a:cs typeface="Play"/>
                <a:sym typeface="Play"/>
              </a:rPr>
              <a:t>État actuel, points critiques, conclusion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8503920" y="123444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288036" y="788670"/>
            <a:ext cx="2304288" cy="3429000"/>
          </a:xfrm>
          <a:prstGeom prst="roundRect">
            <a:avLst>
              <a:gd fmla="val 4762" name="adj"/>
            </a:avLst>
          </a:prstGeom>
          <a:solidFill>
            <a:srgbClr val="101A24">
              <a:alpha val="81960"/>
            </a:srgbClr>
          </a:solidFill>
          <a:ln cap="flat" cmpd="sng" w="12700">
            <a:solidFill>
              <a:srgbClr val="253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404622" y="1042416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21208" y="1035558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Déjà fait : chaîne LoRa, join, ACK/retry, supervision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404622" y="1645920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521208" y="1639062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En cours : intégration</a:t>
            </a:r>
            <a:b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Bluetooth dans le flux</a:t>
            </a:r>
            <a:b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" sz="1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404622" y="2249424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521208" y="2242566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À finir : mesure batterie WyresV2 et gateway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404622" y="2852928"/>
            <a:ext cx="123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521208" y="2846070"/>
            <a:ext cx="19888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Bilan : démonstrateur terrain crédible et utile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mp9.png" id="347" name="Google Shape;3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236" y="1012627"/>
            <a:ext cx="5726430" cy="3221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ide9_status_ui_fixed_v2.png" id="348" name="Google Shape;3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1236" y="1012627"/>
            <a:ext cx="5726430" cy="3221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